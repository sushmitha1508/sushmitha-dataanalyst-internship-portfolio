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Fashion</c:v>
                  </c:pt>
                  <c:pt idx="1">
                    <c:v>Furniture</c:v>
                  </c:pt>
                  <c:pt idx="2">
                    <c:v>Grocery</c:v>
                  </c:pt>
                  <c:pt idx="3">
                    <c:v>Education</c:v>
                  </c:pt>
                  <c:pt idx="4">
                    <c:v>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21.5</c:v>
                </c:pt>
                <c:pt idx="2">
                  <c:v>22.2</c:v>
                </c:pt>
                <c:pt idx="3">
                  <c:v>25</c:v>
                </c:pt>
                <c:pt idx="4">
                  <c:v>50.8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solidFill>
              <a:srgbClr val="5B67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Gaya</c:v>
                  </c:pt>
                  <c:pt idx="1">
                    <c:v>Delhi</c:v>
                  </c:pt>
                  <c:pt idx="2">
                    <c:v>Hyderabad</c:v>
                  </c:pt>
                  <c:pt idx="3">
                    <c:v>Kolkata</c:v>
                  </c:pt>
                  <c:pt idx="4">
                    <c:v>Patna</c:v>
                  </c:pt>
                  <c:pt idx="5">
                    <c:v>Mumbai</c:v>
                  </c:pt>
                  <c:pt idx="6">
                    <c:v>Pune</c:v>
                  </c:pt>
                  <c:pt idx="7">
                    <c:v>Bengaluru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122913</c:v>
                </c:pt>
                <c:pt idx="1">
                  <c:v>128777</c:v>
                </c:pt>
                <c:pt idx="2">
                  <c:v>137334</c:v>
                </c:pt>
                <c:pt idx="3">
                  <c:v>141988</c:v>
                </c:pt>
                <c:pt idx="4">
                  <c:v>142859</c:v>
                </c:pt>
                <c:pt idx="5">
                  <c:v>143184</c:v>
                </c:pt>
                <c:pt idx="6">
                  <c:v>146598</c:v>
                </c:pt>
                <c:pt idx="7">
                  <c:v>153882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₹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(₹K)</c:v>
                </c:pt>
              </c:strCache>
            </c:strRef>
          </c:tx>
          <c:spPr>
            <a:solidFill>
              <a:srgbClr val="5B6785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7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Low-Engagement</c:v>
                  </c:pt>
                  <c:pt idx="1">
                    <c:v>Young Occasional</c:v>
                  </c:pt>
                  <c:pt idx="2">
                    <c:v>Steady Bulk</c:v>
                  </c:pt>
                  <c:pt idx="3">
                    <c:v>Power Buyers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57.7</c:v>
                </c:pt>
                <c:pt idx="1">
                  <c:v>78.4</c:v>
                </c:pt>
                <c:pt idx="2">
                  <c:v>177.4</c:v>
                </c:pt>
                <c:pt idx="3">
                  <c:v>368.6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&amp; Growth Strategy — Retail Sales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822960" cy="4114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•  Task 4: Data Storytelling &amp; Statistical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Snapshot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healthy, established retail operation — before we look under the hood.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5968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2194560"/>
            <a:ext cx="1828800" cy="18288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5968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1828800" cy="18288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25968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2194560"/>
            <a:ext cx="1828800" cy="182880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25968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× Categories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volume look strong at a glance — the real story is in who's buying, and whether they come back.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(₹M)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drives 36% of total revenue — more than the next two categories combined.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by City (₹)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37160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0936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leads every city in average order value, despite not having the highest order count.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COMPLICATION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bought only once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822960" cy="4114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891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looks healthy today — but the business is almost entirely dependent on constantly acquiring new customers, not retaining the ones it already has.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Separates High-Value Customers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on spend, order size, quantity, and age — not demographics.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417320"/>
            <a:ext cx="164592" cy="164592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Buyers  (153 customers)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 &amp; quantity, avg. age ~40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178040" y="225856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2167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Bulk Shoppers  (266 customers)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441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quantity, mid-high spend, avg. age ~44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3099816"/>
            <a:ext cx="164592" cy="164592"/>
          </a:xfrm>
          <a:prstGeom prst="ellipse">
            <a:avLst/>
          </a:prstGeom>
          <a:solidFill>
            <a:srgbClr val="5B678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3008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Occasional  (258 customers)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826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Low-mid spend, youngest group, avg. age ~28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78040" y="3941064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52360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 (270 customers)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1239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spend &amp; quantity, oldest group, avg. age ~52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7823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category preference were not meaningful differentiators between clusters — purchase behavior drives value, not demographics.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spend tier depends on gender — a Chi-Squared test of independence.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Tier is independent of Gender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(Alt.)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Tier is associated with Gender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626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of independence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210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(significance)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77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141732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1.2852     df = 2     p = 0.526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23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(0.526) &gt; α (0.05)  →  Fail to reject H₀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24612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07592"/>
                <a:gridCol w="1307592"/>
                <a:gridCol w="1316736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Gender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B67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High Value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B67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Mid Value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B67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Low Value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B678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Female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87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278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98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Male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103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289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</a:rPr>
                        <a:t>92</a:t>
                      </a:r>
                      <a:endParaRPr lang="en-US" sz="1050" dirty="0"/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94360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conclusion: gender should not be used to target high-value customers — behavioral data (spend, order size) is the reliable signal, as the segmentation on the previous slide already showed.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analysis into 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over acquisition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92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94.5% of customers buying only once, a repeat-purchase campaign (email re-engagement, loyalty incentives) is the single largest revenue lever available.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243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program for Power Buyers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443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already shows the highest basket size and quantity per order — reward and retain them before a competitor does.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758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Low-Engagement segment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95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low spend among older, less frequent buyers reflects a product-fit gap or a marketing-reach gap.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00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274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behavior, not demographics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047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Chi-squared test confirmed gender has no statistical link to spend tier — use purchase-behavior data for targeting instead.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38912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10% of revenue growth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come from new customers.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It'll come from the 94.5% who never came back.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822960" cy="4114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2026-09-12T06:31:21Z</dcterms:created>
  <dcterms:modified xsi:type="dcterms:W3CDTF">2026-09-12T06:31:21Z</dcterms:modified>
</cp:coreProperties>
</file>